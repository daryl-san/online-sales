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9E13E-0108-4FE3-9A0E-192F8DC357B8}" v="6" dt="2025-11-07T13:31:55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91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yl sangalang" userId="9ab3aa86f88f92f8" providerId="LiveId" clId="{E0CC8E52-537F-4E2A-ACDC-EF4501DF4EA4}"/>
    <pc:docChg chg="undo custSel addSld delSld modSld sldOrd">
      <pc:chgData name="daryl sangalang" userId="9ab3aa86f88f92f8" providerId="LiveId" clId="{E0CC8E52-537F-4E2A-ACDC-EF4501DF4EA4}" dt="2025-11-07T13:32:18.705" v="330" actId="1076"/>
      <pc:docMkLst>
        <pc:docMk/>
      </pc:docMkLst>
      <pc:sldChg chg="modSp mod">
        <pc:chgData name="daryl sangalang" userId="9ab3aa86f88f92f8" providerId="LiveId" clId="{E0CC8E52-537F-4E2A-ACDC-EF4501DF4EA4}" dt="2025-11-07T12:54:51.654" v="52" actId="20577"/>
        <pc:sldMkLst>
          <pc:docMk/>
          <pc:sldMk cId="1914256720" sldId="256"/>
        </pc:sldMkLst>
        <pc:spChg chg="mod">
          <ac:chgData name="daryl sangalang" userId="9ab3aa86f88f92f8" providerId="LiveId" clId="{E0CC8E52-537F-4E2A-ACDC-EF4501DF4EA4}" dt="2025-11-07T12:54:51.654" v="52" actId="20577"/>
          <ac:spMkLst>
            <pc:docMk/>
            <pc:sldMk cId="1914256720" sldId="256"/>
            <ac:spMk id="2" creationId="{B8A37182-A8C9-7F88-2C93-FB60B0F9CB14}"/>
          </ac:spMkLst>
        </pc:spChg>
      </pc:sldChg>
      <pc:sldChg chg="modSp mod">
        <pc:chgData name="daryl sangalang" userId="9ab3aa86f88f92f8" providerId="LiveId" clId="{E0CC8E52-537F-4E2A-ACDC-EF4501DF4EA4}" dt="2025-11-07T12:56:06.044" v="53" actId="20577"/>
        <pc:sldMkLst>
          <pc:docMk/>
          <pc:sldMk cId="4027979730" sldId="258"/>
        </pc:sldMkLst>
        <pc:spChg chg="mod">
          <ac:chgData name="daryl sangalang" userId="9ab3aa86f88f92f8" providerId="LiveId" clId="{E0CC8E52-537F-4E2A-ACDC-EF4501DF4EA4}" dt="2025-11-07T12:56:06.044" v="53" actId="20577"/>
          <ac:spMkLst>
            <pc:docMk/>
            <pc:sldMk cId="4027979730" sldId="258"/>
            <ac:spMk id="6" creationId="{93062D65-F46A-DE89-5427-BAB7912D8E64}"/>
          </ac:spMkLst>
        </pc:spChg>
      </pc:sldChg>
      <pc:sldChg chg="modSp mod">
        <pc:chgData name="daryl sangalang" userId="9ab3aa86f88f92f8" providerId="LiveId" clId="{E0CC8E52-537F-4E2A-ACDC-EF4501DF4EA4}" dt="2025-11-07T12:59:23.387" v="264" actId="20577"/>
        <pc:sldMkLst>
          <pc:docMk/>
          <pc:sldMk cId="4132582523" sldId="260"/>
        </pc:sldMkLst>
        <pc:spChg chg="mod">
          <ac:chgData name="daryl sangalang" userId="9ab3aa86f88f92f8" providerId="LiveId" clId="{E0CC8E52-537F-4E2A-ACDC-EF4501DF4EA4}" dt="2025-11-07T12:59:23.387" v="264" actId="20577"/>
          <ac:spMkLst>
            <pc:docMk/>
            <pc:sldMk cId="4132582523" sldId="260"/>
            <ac:spMk id="9" creationId="{007459C4-CEE7-4851-A792-E39C104BBA7E}"/>
          </ac:spMkLst>
        </pc:spChg>
      </pc:sldChg>
      <pc:sldChg chg="addSp delSp modSp add mod ord">
        <pc:chgData name="daryl sangalang" userId="9ab3aa86f88f92f8" providerId="LiveId" clId="{E0CC8E52-537F-4E2A-ACDC-EF4501DF4EA4}" dt="2025-11-07T13:27:27.902" v="299" actId="113"/>
        <pc:sldMkLst>
          <pc:docMk/>
          <pc:sldMk cId="2475073334" sldId="261"/>
        </pc:sldMkLst>
        <pc:spChg chg="add del mod">
          <ac:chgData name="daryl sangalang" userId="9ab3aa86f88f92f8" providerId="LiveId" clId="{E0CC8E52-537F-4E2A-ACDC-EF4501DF4EA4}" dt="2025-11-07T13:25:53.379" v="285"/>
          <ac:spMkLst>
            <pc:docMk/>
            <pc:sldMk cId="2475073334" sldId="261"/>
            <ac:spMk id="3" creationId="{E8295894-3DA0-B140-6135-2D64545ECA42}"/>
          </ac:spMkLst>
        </pc:spChg>
        <pc:spChg chg="mod">
          <ac:chgData name="daryl sangalang" userId="9ab3aa86f88f92f8" providerId="LiveId" clId="{E0CC8E52-537F-4E2A-ACDC-EF4501DF4EA4}" dt="2025-11-07T13:26:48.504" v="292" actId="14100"/>
          <ac:spMkLst>
            <pc:docMk/>
            <pc:sldMk cId="2475073334" sldId="261"/>
            <ac:spMk id="6" creationId="{4E485C26-72C1-4FB6-057D-D33D03522BB2}"/>
          </ac:spMkLst>
        </pc:spChg>
        <pc:spChg chg="mod">
          <ac:chgData name="daryl sangalang" userId="9ab3aa86f88f92f8" providerId="LiveId" clId="{E0CC8E52-537F-4E2A-ACDC-EF4501DF4EA4}" dt="2025-11-07T13:27:27.902" v="299" actId="113"/>
          <ac:spMkLst>
            <pc:docMk/>
            <pc:sldMk cId="2475073334" sldId="261"/>
            <ac:spMk id="7" creationId="{E118898B-6B7C-59A5-C62E-805406C248C9}"/>
          </ac:spMkLst>
        </pc:spChg>
        <pc:spChg chg="mod">
          <ac:chgData name="daryl sangalang" userId="9ab3aa86f88f92f8" providerId="LiveId" clId="{E0CC8E52-537F-4E2A-ACDC-EF4501DF4EA4}" dt="2025-11-07T13:26:04.380" v="288" actId="1076"/>
          <ac:spMkLst>
            <pc:docMk/>
            <pc:sldMk cId="2475073334" sldId="261"/>
            <ac:spMk id="11" creationId="{6D952A29-69F0-95B6-3DA3-C72D3563C915}"/>
          </ac:spMkLst>
        </pc:spChg>
        <pc:picChg chg="add mod">
          <ac:chgData name="daryl sangalang" userId="9ab3aa86f88f92f8" providerId="LiveId" clId="{E0CC8E52-537F-4E2A-ACDC-EF4501DF4EA4}" dt="2025-11-07T13:25:54.374" v="287" actId="962"/>
          <ac:picMkLst>
            <pc:docMk/>
            <pc:sldMk cId="2475073334" sldId="261"/>
            <ac:picMk id="5" creationId="{A6208013-E9EB-4F72-D448-9E84DF1A6690}"/>
          </ac:picMkLst>
        </pc:picChg>
        <pc:picChg chg="del">
          <ac:chgData name="daryl sangalang" userId="9ab3aa86f88f92f8" providerId="LiveId" clId="{E0CC8E52-537F-4E2A-ACDC-EF4501DF4EA4}" dt="2025-11-07T13:25:37.375" v="283" actId="478"/>
          <ac:picMkLst>
            <pc:docMk/>
            <pc:sldMk cId="2475073334" sldId="261"/>
            <ac:picMk id="10" creationId="{603C1514-2571-534A-8B96-A5FA96E709E2}"/>
          </ac:picMkLst>
        </pc:picChg>
      </pc:sldChg>
      <pc:sldChg chg="new del">
        <pc:chgData name="daryl sangalang" userId="9ab3aa86f88f92f8" providerId="LiveId" clId="{E0CC8E52-537F-4E2A-ACDC-EF4501DF4EA4}" dt="2025-11-07T12:58:46.897" v="131" actId="680"/>
        <pc:sldMkLst>
          <pc:docMk/>
          <pc:sldMk cId="2675769534" sldId="261"/>
        </pc:sldMkLst>
      </pc:sldChg>
      <pc:sldChg chg="addSp delSp modSp add mod">
        <pc:chgData name="daryl sangalang" userId="9ab3aa86f88f92f8" providerId="LiveId" clId="{E0CC8E52-537F-4E2A-ACDC-EF4501DF4EA4}" dt="2025-11-07T13:32:18.705" v="330" actId="1076"/>
        <pc:sldMkLst>
          <pc:docMk/>
          <pc:sldMk cId="1070654015" sldId="262"/>
        </pc:sldMkLst>
        <pc:spChg chg="add del mod">
          <ac:chgData name="daryl sangalang" userId="9ab3aa86f88f92f8" providerId="LiveId" clId="{E0CC8E52-537F-4E2A-ACDC-EF4501DF4EA4}" dt="2025-11-07T13:31:24.718" v="316"/>
          <ac:spMkLst>
            <pc:docMk/>
            <pc:sldMk cId="1070654015" sldId="262"/>
            <ac:spMk id="3" creationId="{1E4D3E06-AB28-FD4A-6C89-1A9D1D1402C2}"/>
          </ac:spMkLst>
        </pc:spChg>
        <pc:spChg chg="mod">
          <ac:chgData name="daryl sangalang" userId="9ab3aa86f88f92f8" providerId="LiveId" clId="{E0CC8E52-537F-4E2A-ACDC-EF4501DF4EA4}" dt="2025-11-07T13:32:18.705" v="330" actId="1076"/>
          <ac:spMkLst>
            <pc:docMk/>
            <pc:sldMk cId="1070654015" sldId="262"/>
            <ac:spMk id="6" creationId="{F86A2AE6-40DB-A525-9460-90D36CB180AE}"/>
          </ac:spMkLst>
        </pc:spChg>
        <pc:spChg chg="mod">
          <ac:chgData name="daryl sangalang" userId="9ab3aa86f88f92f8" providerId="LiveId" clId="{E0CC8E52-537F-4E2A-ACDC-EF4501DF4EA4}" dt="2025-11-07T13:32:15.457" v="329" actId="1076"/>
          <ac:spMkLst>
            <pc:docMk/>
            <pc:sldMk cId="1070654015" sldId="262"/>
            <ac:spMk id="7" creationId="{3F75DE84-B11D-21E7-9781-A67A40B152DC}"/>
          </ac:spMkLst>
        </pc:spChg>
        <pc:spChg chg="mod">
          <ac:chgData name="daryl sangalang" userId="9ab3aa86f88f92f8" providerId="LiveId" clId="{E0CC8E52-537F-4E2A-ACDC-EF4501DF4EA4}" dt="2025-11-07T13:31:01.717" v="313" actId="27636"/>
          <ac:spMkLst>
            <pc:docMk/>
            <pc:sldMk cId="1070654015" sldId="262"/>
            <ac:spMk id="11" creationId="{5DB4CDEC-B2E5-91F9-3B6F-43F61269A74D}"/>
          </ac:spMkLst>
        </pc:spChg>
        <pc:picChg chg="del">
          <ac:chgData name="daryl sangalang" userId="9ab3aa86f88f92f8" providerId="LiveId" clId="{E0CC8E52-537F-4E2A-ACDC-EF4501DF4EA4}" dt="2025-11-07T13:31:12.789" v="314" actId="478"/>
          <ac:picMkLst>
            <pc:docMk/>
            <pc:sldMk cId="1070654015" sldId="262"/>
            <ac:picMk id="5" creationId="{FA10F4C5-9D82-23D4-B862-F5396E0F9211}"/>
          </ac:picMkLst>
        </pc:picChg>
        <pc:picChg chg="add mod">
          <ac:chgData name="daryl sangalang" userId="9ab3aa86f88f92f8" providerId="LiveId" clId="{E0CC8E52-537F-4E2A-ACDC-EF4501DF4EA4}" dt="2025-11-07T13:31:25.707" v="318" actId="962"/>
          <ac:picMkLst>
            <pc:docMk/>
            <pc:sldMk cId="1070654015" sldId="262"/>
            <ac:picMk id="8" creationId="{6EE73519-D175-E6CA-E4E1-47E7255F28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5D601-78D4-4F84-A091-AEC6682EB50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C627F-496A-47FF-8426-C9A61A7E0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62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16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32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06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869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34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7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36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10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373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3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0172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907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4318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7267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848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61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6D86-7509-4F5E-9919-B819E45E6CE5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16A8C66-A1E6-4F1F-8F65-D1D0BDDC18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86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7182-A8C9-7F88-2C93-FB60B0F9C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Store Sales Analysis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B75F0-3C59-1595-9405-72FD584DA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by Daryl Sangalang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42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B3C7-091C-6125-64A4-117A64CFF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651" y="222971"/>
            <a:ext cx="8911687" cy="1280890"/>
          </a:xfrm>
        </p:spPr>
        <p:txBody>
          <a:bodyPr/>
          <a:lstStyle/>
          <a:p>
            <a:r>
              <a:rPr lang="en-US" dirty="0"/>
              <a:t>Year 2023 – Performance Overview</a:t>
            </a:r>
            <a:endParaRPr lang="en-AU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A1BF6622-4989-AFEC-D65C-F51A6F531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135" y="863416"/>
            <a:ext cx="8899479" cy="37782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C7C6C4-5945-7DDD-4FE8-AFDFD20B981C}"/>
              </a:ext>
            </a:extLst>
          </p:cNvPr>
          <p:cNvSpPr txBox="1"/>
          <p:nvPr/>
        </p:nvSpPr>
        <p:spPr>
          <a:xfrm>
            <a:off x="1755135" y="4720240"/>
            <a:ext cx="4938831" cy="81724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The Company ended the year with a total revenue of </a:t>
            </a:r>
            <a:r>
              <a:rPr lang="en-US" sz="1400" b="1" dirty="0"/>
              <a:t>$5m </a:t>
            </a:r>
            <a:r>
              <a:rPr lang="en-US" sz="1400" dirty="0"/>
              <a:t>for the year 2023, </a:t>
            </a:r>
            <a:r>
              <a:rPr lang="en-US" sz="1400" b="1" dirty="0"/>
              <a:t>51% </a:t>
            </a:r>
            <a:r>
              <a:rPr lang="en-US" sz="1400" dirty="0"/>
              <a:t>from Retail sales channel and </a:t>
            </a:r>
            <a:r>
              <a:rPr lang="en-US" sz="1400" b="1" dirty="0"/>
              <a:t>49% </a:t>
            </a:r>
            <a:r>
              <a:rPr lang="en-US" sz="1400" dirty="0"/>
              <a:t>from Online Sales channel.</a:t>
            </a:r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66319-465A-56AD-7E4A-1888F3829985}"/>
              </a:ext>
            </a:extLst>
          </p:cNvPr>
          <p:cNvSpPr txBox="1"/>
          <p:nvPr/>
        </p:nvSpPr>
        <p:spPr>
          <a:xfrm>
            <a:off x="7308220" y="4720240"/>
            <a:ext cx="3346394" cy="15323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Product Category breakdown of the revenue: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Clothing ($1.31m)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Furniture ($1.26m)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Electronics ($1.23m)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Food ($1.19m)</a:t>
            </a:r>
          </a:p>
        </p:txBody>
      </p:sp>
    </p:spTree>
    <p:extLst>
      <p:ext uri="{BB962C8B-B14F-4D97-AF65-F5344CB8AC3E}">
        <p14:creationId xmlns:p14="http://schemas.microsoft.com/office/powerpoint/2010/main" val="365082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9724D4-BFC5-AFCC-7575-1A6C22CC7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802" y="692269"/>
            <a:ext cx="8915400" cy="34637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62D65-F46A-DE89-5427-BAB7912D8E64}"/>
              </a:ext>
            </a:extLst>
          </p:cNvPr>
          <p:cNvSpPr txBox="1"/>
          <p:nvPr/>
        </p:nvSpPr>
        <p:spPr>
          <a:xfrm>
            <a:off x="1799802" y="4328599"/>
            <a:ext cx="4691739" cy="200906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The Month of January showing strongest revenue return of ~476k.</a:t>
            </a:r>
          </a:p>
          <a:p>
            <a:r>
              <a:rPr lang="en-US" sz="1400" dirty="0"/>
              <a:t>Closely followed by November ($467k), October ($460k) and August ($443k)</a:t>
            </a:r>
          </a:p>
          <a:p>
            <a:endParaRPr lang="en-US" sz="1400" dirty="0"/>
          </a:p>
          <a:p>
            <a:r>
              <a:rPr lang="en-US" sz="1400" dirty="0"/>
              <a:t>Across these 4 months is a total revenue of ~$1.85M, 52.2% of which is through our Retail sales channel.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E6A3B-7071-83A2-9BBE-6D8EE5EB99DE}"/>
              </a:ext>
            </a:extLst>
          </p:cNvPr>
          <p:cNvSpPr txBox="1"/>
          <p:nvPr/>
        </p:nvSpPr>
        <p:spPr>
          <a:xfrm>
            <a:off x="6907338" y="4328599"/>
            <a:ext cx="3807864" cy="15323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Product Category breakdown of the revenue: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Clothing: ~$519k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Food: ~$490k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Furniture: ~$446k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Electronics: ~$409k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3F28E0-2F7C-2BB9-E7D3-31AC3175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725" y="54178"/>
            <a:ext cx="2402550" cy="551826"/>
          </a:xfrm>
        </p:spPr>
        <p:txBody>
          <a:bodyPr>
            <a:normAutofit/>
          </a:bodyPr>
          <a:lstStyle/>
          <a:p>
            <a:r>
              <a:rPr lang="en-US" sz="2500" dirty="0"/>
              <a:t>Top 4 Months</a:t>
            </a:r>
            <a:endParaRPr lang="en-AU" sz="2500" dirty="0"/>
          </a:p>
        </p:txBody>
      </p:sp>
    </p:spTree>
    <p:extLst>
      <p:ext uri="{BB962C8B-B14F-4D97-AF65-F5344CB8AC3E}">
        <p14:creationId xmlns:p14="http://schemas.microsoft.com/office/powerpoint/2010/main" val="402797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E135-8126-8AE5-B88A-AD6E0567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9196B7-272E-0DBD-10C4-1A6F942D34FA}"/>
              </a:ext>
            </a:extLst>
          </p:cNvPr>
          <p:cNvSpPr txBox="1"/>
          <p:nvPr/>
        </p:nvSpPr>
        <p:spPr>
          <a:xfrm>
            <a:off x="1799802" y="4328599"/>
            <a:ext cx="4691739" cy="177069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On the other end of the spectrum, the 4 months that has the least amount of revenue amassed ($1.50m), in descending order are:</a:t>
            </a:r>
          </a:p>
          <a:p>
            <a:r>
              <a:rPr lang="en-US" sz="1400" dirty="0"/>
              <a:t>May @ $389k</a:t>
            </a:r>
          </a:p>
          <a:p>
            <a:r>
              <a:rPr lang="en-US" sz="1400" dirty="0"/>
              <a:t>July @ $374k</a:t>
            </a:r>
          </a:p>
          <a:p>
            <a:r>
              <a:rPr lang="en-US" sz="1400" dirty="0"/>
              <a:t>February @ $369k</a:t>
            </a:r>
          </a:p>
          <a:p>
            <a:r>
              <a:rPr lang="en-US" sz="1400" dirty="0"/>
              <a:t>September @ $368k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D992E-B17F-8D49-3661-68AA0472E029}"/>
              </a:ext>
            </a:extLst>
          </p:cNvPr>
          <p:cNvSpPr txBox="1"/>
          <p:nvPr/>
        </p:nvSpPr>
        <p:spPr>
          <a:xfrm>
            <a:off x="6907338" y="4328599"/>
            <a:ext cx="3807864" cy="15323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Product Category breakdown of the revenue: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Furniture: ~$396k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Electronics: ~$379k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Clothing: ~$365k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Food: ~$358k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BE87D2-5764-D015-602D-E1FF5363E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802" y="694892"/>
            <a:ext cx="8915400" cy="347192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11CFC99-07A2-F39F-73A1-648B6A19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303" y="62177"/>
            <a:ext cx="2683394" cy="551826"/>
          </a:xfrm>
        </p:spPr>
        <p:txBody>
          <a:bodyPr>
            <a:normAutofit fontScale="90000"/>
          </a:bodyPr>
          <a:lstStyle/>
          <a:p>
            <a:r>
              <a:rPr lang="en-US" sz="2500" dirty="0"/>
              <a:t>Bottom 4 Months</a:t>
            </a:r>
            <a:endParaRPr lang="en-AU" sz="2500" dirty="0"/>
          </a:p>
        </p:txBody>
      </p:sp>
    </p:spTree>
    <p:extLst>
      <p:ext uri="{BB962C8B-B14F-4D97-AF65-F5344CB8AC3E}">
        <p14:creationId xmlns:p14="http://schemas.microsoft.com/office/powerpoint/2010/main" val="224468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1E8A-9B05-B167-4B6F-F89778EA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07459C4-CEE7-4851-A792-E39C104BBA7E}"/>
              </a:ext>
            </a:extLst>
          </p:cNvPr>
          <p:cNvSpPr txBox="1"/>
          <p:nvPr/>
        </p:nvSpPr>
        <p:spPr>
          <a:xfrm>
            <a:off x="1638300" y="2053532"/>
            <a:ext cx="8915400" cy="248578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Looking at the 4 best and worst months of revenue, we can see that our most reliable product categories are: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Furniture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With the bottom 2 performing stores being </a:t>
            </a:r>
            <a:r>
              <a:rPr lang="en-US" sz="1400" b="1" dirty="0"/>
              <a:t>West</a:t>
            </a:r>
            <a:r>
              <a:rPr lang="en-US" sz="1400" dirty="0"/>
              <a:t> and </a:t>
            </a:r>
            <a:r>
              <a:rPr lang="en-US" sz="1400" b="1" dirty="0"/>
              <a:t>South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These variables will be our improvement focus.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17" name="Picture 16" descr="A pie chart with numbers and a number of different colored circles&#10;&#10;AI-generated content may be incorrect.">
            <a:extLst>
              <a:ext uri="{FF2B5EF4-FFF2-40B4-BE49-F238E27FC236}">
                <a16:creationId xmlns:a16="http://schemas.microsoft.com/office/drawing/2014/main" id="{6FEFD07B-6B4F-F1C4-F275-42670E56F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929" y="2683383"/>
            <a:ext cx="3223835" cy="1988679"/>
          </a:xfrm>
          <a:prstGeom prst="snip2DiagRect">
            <a:avLst>
              <a:gd name="adj1" fmla="val 0"/>
              <a:gd name="adj2" fmla="val 19124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3258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1CD40-FC18-A396-5F2E-D5608C62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485C26-72C1-4FB6-057D-D33D03522BB2}"/>
              </a:ext>
            </a:extLst>
          </p:cNvPr>
          <p:cNvSpPr txBox="1"/>
          <p:nvPr/>
        </p:nvSpPr>
        <p:spPr>
          <a:xfrm>
            <a:off x="1799802" y="4328599"/>
            <a:ext cx="8915400" cy="5788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As we can see, there's a lull period in revenue for the period April to July with a noticeable dip in returning customer purchases.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8898B-6B7C-59A5-C62E-805406C248C9}"/>
              </a:ext>
            </a:extLst>
          </p:cNvPr>
          <p:cNvSpPr txBox="1"/>
          <p:nvPr/>
        </p:nvSpPr>
        <p:spPr>
          <a:xfrm>
            <a:off x="1799801" y="5073411"/>
            <a:ext cx="8915399" cy="15323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u="sng" dirty="0"/>
              <a:t>Suggestion:</a:t>
            </a:r>
            <a:r>
              <a:rPr lang="en-US" sz="1400" dirty="0"/>
              <a:t> To address this lull for April - July period for our </a:t>
            </a:r>
            <a:r>
              <a:rPr lang="en-US" sz="1400" b="1" dirty="0"/>
              <a:t>SOUTH</a:t>
            </a:r>
            <a:r>
              <a:rPr lang="en-US" sz="1400" dirty="0"/>
              <a:t> and </a:t>
            </a:r>
            <a:r>
              <a:rPr lang="en-US" sz="1400" b="1" dirty="0"/>
              <a:t>WEST</a:t>
            </a:r>
            <a:r>
              <a:rPr lang="en-US" sz="1400" dirty="0"/>
              <a:t> stores' returning customers, we can explore the option of introducing a limited time, in-store only 'Loyalty' offer (To be assessed by Marketing team) for our Clothing products.</a:t>
            </a:r>
          </a:p>
          <a:p>
            <a:br>
              <a:rPr lang="en-US" sz="1400" dirty="0"/>
            </a:br>
            <a:r>
              <a:rPr lang="en-US" sz="1400" dirty="0"/>
              <a:t>This should not only bolster the sales for our returning customers but will have an added effect of incentivizing new customers to join our Loyalty program.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D952A29-69F0-95B6-3DA3-C72D3563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65" y="51181"/>
            <a:ext cx="1551670" cy="551826"/>
          </a:xfrm>
        </p:spPr>
        <p:txBody>
          <a:bodyPr>
            <a:normAutofit/>
          </a:bodyPr>
          <a:lstStyle/>
          <a:p>
            <a:r>
              <a:rPr lang="en-US" sz="2500" dirty="0"/>
              <a:t>Clothing</a:t>
            </a:r>
            <a:endParaRPr lang="en-AU" sz="25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208013-E9EB-4F72-D448-9E84DF1A6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25" y="603007"/>
            <a:ext cx="8915400" cy="3559662"/>
          </a:xfrm>
        </p:spPr>
      </p:pic>
    </p:spTree>
    <p:extLst>
      <p:ext uri="{BB962C8B-B14F-4D97-AF65-F5344CB8AC3E}">
        <p14:creationId xmlns:p14="http://schemas.microsoft.com/office/powerpoint/2010/main" val="247507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0F53-B632-AB57-CBC0-ACF88ADC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6A2AE6-40DB-A525-9460-90D36CB180AE}"/>
              </a:ext>
            </a:extLst>
          </p:cNvPr>
          <p:cNvSpPr txBox="1"/>
          <p:nvPr/>
        </p:nvSpPr>
        <p:spPr>
          <a:xfrm>
            <a:off x="1799801" y="4157778"/>
            <a:ext cx="8915400" cy="57888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While furniture purchases by returning customers is steady, there’s a noticeable dip in revenue from new customers for May and a downward slope starting from June through to August.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5DE84-B11D-21E7-9781-A67A40B152DC}"/>
              </a:ext>
            </a:extLst>
          </p:cNvPr>
          <p:cNvSpPr txBox="1"/>
          <p:nvPr/>
        </p:nvSpPr>
        <p:spPr>
          <a:xfrm>
            <a:off x="1799801" y="4797758"/>
            <a:ext cx="8915399" cy="200906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u="sng" dirty="0"/>
              <a:t>Suggestion: </a:t>
            </a:r>
            <a:r>
              <a:rPr lang="en-US" sz="1400" dirty="0"/>
              <a:t>We can explore the option of running a limited time, signup offer for new customers for these quiet periods (May, June - August).</a:t>
            </a:r>
          </a:p>
          <a:p>
            <a:r>
              <a:rPr lang="en-US" sz="1400" dirty="0"/>
              <a:t>We can also pair this with a SOUTH &amp; WEST location-specific, instore only promotions for certain pieces during this period.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This will not only increase incentive for new customers to sign up to our loyalty program but will also provide the chance for our in-store representatives to direct attention to our other pieces and/or up-sell the customers while at the same time increasing exposure to those locations.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DB4CDEC-B2E5-91F9-3B6F-43F61269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65" y="51181"/>
            <a:ext cx="1551670" cy="551826"/>
          </a:xfrm>
        </p:spPr>
        <p:txBody>
          <a:bodyPr>
            <a:normAutofit/>
          </a:bodyPr>
          <a:lstStyle/>
          <a:p>
            <a:r>
              <a:rPr lang="en-US" sz="2500" dirty="0"/>
              <a:t>Furniture</a:t>
            </a:r>
            <a:endParaRPr lang="en-AU" sz="2500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E73519-D175-E6CA-E4E1-47E7255F2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25" y="616607"/>
            <a:ext cx="8915400" cy="3480073"/>
          </a:xfrm>
        </p:spPr>
      </p:pic>
    </p:spTree>
    <p:extLst>
      <p:ext uri="{BB962C8B-B14F-4D97-AF65-F5344CB8AC3E}">
        <p14:creationId xmlns:p14="http://schemas.microsoft.com/office/powerpoint/2010/main" val="10706540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414</TotalTime>
  <Words>498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Century Gothic</vt:lpstr>
      <vt:lpstr>Wingdings 3</vt:lpstr>
      <vt:lpstr>Wisp</vt:lpstr>
      <vt:lpstr>Store Sales Analysis</vt:lpstr>
      <vt:lpstr>Year 2023 – Performance Overview</vt:lpstr>
      <vt:lpstr>Top 4 Months</vt:lpstr>
      <vt:lpstr>Bottom 4 Months</vt:lpstr>
      <vt:lpstr>PowerPoint Presentation</vt:lpstr>
      <vt:lpstr>Clothing</vt:lpstr>
      <vt:lpstr>Furniture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daryl sangalang</dc:creator>
  <cp:lastModifiedBy>daryl sangalang</cp:lastModifiedBy>
  <cp:revision>1</cp:revision>
  <dcterms:created xsi:type="dcterms:W3CDTF">2025-11-07T06:36:21Z</dcterms:created>
  <dcterms:modified xsi:type="dcterms:W3CDTF">2025-11-07T13:32:20Z</dcterms:modified>
</cp:coreProperties>
</file>